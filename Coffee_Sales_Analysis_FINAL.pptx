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C1A0E"/>
                </a:solidFill>
                <a:latin typeface="Arial"/>
              </a:rPr>
              <a:t>Number of Orders by Coffee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C07B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00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7B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3A2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5E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1A0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7C6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0522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7C6E65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2691E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Americano
with Milk</c:v>
                  </c:pt>
                  <c:pt idx="1">
                    <c:v>Latte</c:v>
                  </c:pt>
                  <c:pt idx="2">
                    <c:v>Cappuccino</c:v>
                  </c:pt>
                  <c:pt idx="3">
                    <c:v>Americano</c:v>
                  </c:pt>
                  <c:pt idx="4">
                    <c:v>Cortado</c:v>
                  </c:pt>
                  <c:pt idx="5">
                    <c:v>Hot
Chocolate</c:v>
                  </c:pt>
                  <c:pt idx="6">
                    <c:v>Espresso</c:v>
                  </c:pt>
                  <c:pt idx="7">
                    <c:v>Cocoa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268</c:v>
                </c:pt>
                <c:pt idx="1">
                  <c:v>243</c:v>
                </c:pt>
                <c:pt idx="2">
                  <c:v>196</c:v>
                </c:pt>
                <c:pt idx="3">
                  <c:v>169</c:v>
                </c:pt>
                <c:pt idx="4">
                  <c:v>99</c:v>
                </c:pt>
                <c:pt idx="5">
                  <c:v>74</c:v>
                </c:pt>
                <c:pt idx="6">
                  <c:v>49</c:v>
                </c:pt>
                <c:pt idx="7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100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C100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3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6E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C1A0E"/>
                </a:solidFill>
                <a:latin typeface="Arial"/>
              </a:rPr>
              <a:t>Total Revenue by Coffee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(units)</c:v>
                </c:pt>
              </c:strCache>
            </c:strRef>
          </c:tx>
          <c:spPr>
            <a:solidFill>
              <a:srgbClr val="C07B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100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Latte</c:v>
                  </c:pt>
                  <c:pt idx="1">
                    <c:v>Americano
w/ Milk</c:v>
                  </c:pt>
                  <c:pt idx="2">
                    <c:v>Cappuccino</c:v>
                  </c:pt>
                  <c:pt idx="3">
                    <c:v>Americano</c:v>
                  </c:pt>
                  <c:pt idx="4">
                    <c:v>Hot
Chocolate</c:v>
                  </c:pt>
                  <c:pt idx="5">
                    <c:v>Cortado</c:v>
                  </c:pt>
                  <c:pt idx="6">
                    <c:v>Cocoa</c:v>
                  </c:pt>
                  <c:pt idx="7">
                    <c:v>Espresso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9009</c:v>
                </c:pt>
                <c:pt idx="1">
                  <c:v>8602</c:v>
                </c:pt>
                <c:pt idx="2">
                  <c:v>7333</c:v>
                </c:pt>
                <c:pt idx="3">
                  <c:v>4645</c:v>
                </c:pt>
                <c:pt idx="4">
                  <c:v>2778</c:v>
                </c:pt>
                <c:pt idx="5">
                  <c:v>2745</c:v>
                </c:pt>
                <c:pt idx="6">
                  <c:v>1296</c:v>
                </c:pt>
                <c:pt idx="7">
                  <c:v>1101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C100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100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DE3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6E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C1A0E"/>
                </a:solidFill>
                <a:latin typeface="Arial"/>
              </a:rPr>
              <a:t>Revenue Share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7B3A"/>
              </a:solidFill>
              <a:effectLst/>
            </c:spPr>
          </c:dPt>
          <c:dPt>
            <c:idx val="1"/>
            <c:bubble3D val="0"/>
            <c:spPr>
              <a:solidFill>
                <a:srgbClr val="6B3A2A"/>
              </a:solidFill>
              <a:effectLst/>
            </c:spPr>
          </c:dPt>
          <c:dPt>
            <c:idx val="2"/>
            <c:bubble3D val="0"/>
            <c:spPr>
              <a:solidFill>
                <a:srgbClr val="8B5E3C"/>
              </a:solidFill>
              <a:effectLst/>
            </c:spPr>
          </c:dPt>
          <c:dPt>
            <c:idx val="3"/>
            <c:bubble3D val="0"/>
            <c:spPr>
              <a:solidFill>
                <a:srgbClr val="2C1A0E"/>
              </a:solidFill>
              <a:effectLst/>
            </c:spPr>
          </c:dPt>
          <c:dPt>
            <c:idx val="4"/>
            <c:bubble3D val="0"/>
            <c:spPr>
              <a:solidFill>
                <a:srgbClr val="7C6E6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Latte</c:v>
                </c:pt>
                <c:pt idx="1">
                  <c:v>Amer. w/ Milk</c:v>
                </c:pt>
                <c:pt idx="2">
                  <c:v>Cappuccino</c:v>
                </c:pt>
                <c:pt idx="3">
                  <c:v>Americano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9009</c:v>
                </c:pt>
                <c:pt idx="1">
                  <c:v>8602</c:v>
                </c:pt>
                <c:pt idx="2">
                  <c:v>7333</c:v>
                </c:pt>
                <c:pt idx="3">
                  <c:v>4645</c:v>
                </c:pt>
                <c:pt idx="4">
                  <c:v>7920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C1A0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DF6E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1A0E"/>
                </a:solidFill>
                <a:latin typeface="Arial"/>
              </a:rPr>
              <a:t>Orders by Day of Week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6B3A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100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3A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7B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B3A2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3A2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3A2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B3A2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B3A2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Monday</c:v>
                  </c:pt>
                  <c:pt idx="1">
                    <c:v>Tuesday</c:v>
                  </c:pt>
                  <c:pt idx="2">
                    <c:v>Wednesday</c:v>
                  </c:pt>
                  <c:pt idx="3">
                    <c:v>Thursday</c:v>
                  </c:pt>
                  <c:pt idx="4">
                    <c:v>Friday</c:v>
                  </c:pt>
                  <c:pt idx="5">
                    <c:v>Saturday</c:v>
                  </c:pt>
                  <c:pt idx="6">
                    <c:v>Sunday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151</c:v>
                </c:pt>
                <c:pt idx="1">
                  <c:v>185</c:v>
                </c:pt>
                <c:pt idx="2">
                  <c:v>165</c:v>
                </c:pt>
                <c:pt idx="3">
                  <c:v>164</c:v>
                </c:pt>
                <c:pt idx="4">
                  <c:v>163</c:v>
                </c:pt>
                <c:pt idx="5">
                  <c:v>154</c:v>
                </c:pt>
                <c:pt idx="6">
                  <c:v>151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100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C100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3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6E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2C1A0E"/>
                </a:solidFill>
                <a:latin typeface="Arial"/>
              </a:rPr>
              <a:t>Orders by Hour of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C07B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7</c:v>
                  </c:pt>
                  <c:pt idx="1">
                    <c:v>8</c:v>
                  </c:pt>
                  <c:pt idx="2">
                    <c:v>9</c:v>
                  </c:pt>
                  <c:pt idx="3">
                    <c:v>10</c:v>
                  </c:pt>
                  <c:pt idx="4">
                    <c:v>11</c:v>
                  </c:pt>
                  <c:pt idx="5">
                    <c:v>12</c:v>
                  </c:pt>
                  <c:pt idx="6">
                    <c:v>13</c:v>
                  </c:pt>
                  <c:pt idx="7">
                    <c:v>14</c:v>
                  </c:pt>
                  <c:pt idx="8">
                    <c:v>15</c:v>
                  </c:pt>
                  <c:pt idx="9">
                    <c:v>16</c:v>
                  </c:pt>
                  <c:pt idx="10">
                    <c:v>17</c:v>
                  </c:pt>
                  <c:pt idx="11">
                    <c:v>18</c:v>
                  </c:pt>
                  <c:pt idx="12">
                    <c:v>19</c:v>
                  </c:pt>
                  <c:pt idx="13">
                    <c:v>20</c:v>
                  </c:pt>
                  <c:pt idx="14">
                    <c:v>21</c:v>
                  </c:pt>
                  <c:pt idx="15">
                    <c:v>22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13</c:v>
                </c:pt>
                <c:pt idx="1">
                  <c:v>44</c:v>
                </c:pt>
                <c:pt idx="2">
                  <c:v>50</c:v>
                </c:pt>
                <c:pt idx="3">
                  <c:v>133</c:v>
                </c:pt>
                <c:pt idx="4">
                  <c:v>103</c:v>
                </c:pt>
                <c:pt idx="5">
                  <c:v>87</c:v>
                </c:pt>
                <c:pt idx="6">
                  <c:v>78</c:v>
                </c:pt>
                <c:pt idx="7">
                  <c:v>76</c:v>
                </c:pt>
                <c:pt idx="8">
                  <c:v>65</c:v>
                </c:pt>
                <c:pt idx="9">
                  <c:v>77</c:v>
                </c:pt>
                <c:pt idx="10">
                  <c:v>77</c:v>
                </c:pt>
                <c:pt idx="11">
                  <c:v>75</c:v>
                </c:pt>
                <c:pt idx="12">
                  <c:v>96</c:v>
                </c:pt>
                <c:pt idx="13">
                  <c:v>54</c:v>
                </c:pt>
                <c:pt idx="14">
                  <c:v>70</c:v>
                </c:pt>
                <c:pt idx="15">
                  <c:v>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C100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3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6E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C1A0E"/>
                </a:solidFill>
                <a:latin typeface="Arial"/>
              </a:rPr>
              <a:t>Payment Method Split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7B3A"/>
              </a:solidFill>
              <a:effectLst/>
            </c:spPr>
          </c:dPt>
          <c:dPt>
            <c:idx val="1"/>
            <c:bubble3D val="0"/>
            <c:spPr>
              <a:solidFill>
                <a:srgbClr val="2A7C6F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Card</c:v>
                </c:pt>
                <c:pt idx="1">
                  <c:v>Cash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1044</c:v>
                </c:pt>
                <c:pt idx="1">
                  <c:v>89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2C1A0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DF6EC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C1A0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C1A0E"/>
                </a:solidFill>
                <a:latin typeface="Arial"/>
              </a:rPr>
              <a:t>Monthly Revenue (Mar–Jul 2024)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6B3A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100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3A2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B3A2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7B3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3A2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3A2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March</c:v>
                  </c:pt>
                  <c:pt idx="1">
                    <c:v>April</c:v>
                  </c:pt>
                  <c:pt idx="2">
                    <c:v>May</c:v>
                  </c:pt>
                  <c:pt idx="3">
                    <c:v>June</c:v>
                  </c:pt>
                  <c:pt idx="4">
                    <c:v>July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7050</c:v>
                </c:pt>
                <c:pt idx="1">
                  <c:v>6721</c:v>
                </c:pt>
                <c:pt idx="2">
                  <c:v>9063</c:v>
                </c:pt>
                <c:pt idx="3">
                  <c:v>7759</c:v>
                </c:pt>
                <c:pt idx="4">
                  <c:v>6916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C100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100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3D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C6E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6B3A2A">
              <a:alpha val="30000"/>
            </a:srgbClr>
          </a:solidFill>
          <a:ln w="3810">
            <a:solidFill>
              <a:srgbClr val="6B3A2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286000"/>
            <a:ext cx="3200400" cy="3200400"/>
          </a:xfrm>
          <a:prstGeom prst="ellipse">
            <a:avLst/>
          </a:prstGeom>
          <a:solidFill>
            <a:srgbClr val="C07B3A">
              <a:alpha val="15000"/>
            </a:srgbClr>
          </a:solidFill>
          <a:ln w="3810">
            <a:solidFill>
              <a:srgbClr val="C07B3A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502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☕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84048" y="13258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Sales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84048" y="21762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Vending Machine  ·  EDA &amp; Insights  ·  ML Revenue Model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" y="2670048"/>
            <a:ext cx="4754880" cy="45720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" y="2834640"/>
            <a:ext cx="1828800" cy="347472"/>
          </a:xfrm>
          <a:prstGeom prst="rect">
            <a:avLst/>
          </a:prstGeom>
          <a:solidFill>
            <a:srgbClr val="6B3A2A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Coffee Types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95728" y="2834640"/>
            <a:ext cx="1828800" cy="347472"/>
          </a:xfrm>
          <a:prstGeom prst="rect">
            <a:avLst/>
          </a:prstGeom>
          <a:solidFill>
            <a:srgbClr val="6B3A2A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395728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1,133 Transactions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7408" y="2834640"/>
            <a:ext cx="1828800" cy="347472"/>
          </a:xfrm>
          <a:prstGeom prst="rect">
            <a:avLst/>
          </a:prstGeom>
          <a:solidFill>
            <a:srgbClr val="6B3A2A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407408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Analysis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19088" y="2834640"/>
            <a:ext cx="1828800" cy="347472"/>
          </a:xfrm>
          <a:prstGeom prst="rect">
            <a:avLst/>
          </a:prstGeom>
          <a:solidFill>
            <a:srgbClr val="6B3A2A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19088" y="2834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 &amp; ML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41605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Ronak Pawar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github.com/ronakpawar123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51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64008" cy="685800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103327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Goals, scope &amp; problem statement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755648"/>
            <a:ext cx="4251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755648"/>
            <a:ext cx="64008" cy="685800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01368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18288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columns · 1,133 rows · Mar–Jul 2024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551176"/>
            <a:ext cx="4251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551176"/>
            <a:ext cx="64008" cy="685800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596896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262432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Feature Engineering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date parsing &amp; new columns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3346704"/>
            <a:ext cx="4251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346704"/>
            <a:ext cx="64008" cy="685800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392424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341985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Sales Distribution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ordered &amp; highest revenue drinks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" y="4142232"/>
            <a:ext cx="4251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4142232"/>
            <a:ext cx="64008" cy="685800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187952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8680" y="421538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₹37,509 across 8 drink types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960120"/>
            <a:ext cx="4251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960120"/>
            <a:ext cx="64008" cy="685800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1005840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303520" y="103327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Day &amp; Hour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days, morning &amp; evening rush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1755648"/>
            <a:ext cx="4251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755648"/>
            <a:ext cx="64008" cy="685800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1801368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303520" y="182880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Analysis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92.1% vs Cash 7.9%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2551176"/>
            <a:ext cx="4251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63440" y="2551176"/>
            <a:ext cx="64008" cy="685800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2596896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5303520" y="262432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Trends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Mar–Jul 2024 revenue breakdown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63440" y="3346704"/>
            <a:ext cx="4251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346704"/>
            <a:ext cx="64008" cy="685800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3392424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5303520" y="341985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Revenue Prediction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· R² = 0.82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63440" y="4142232"/>
            <a:ext cx="4251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4142232"/>
            <a:ext cx="64008" cy="685800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42" name="Text 40"/>
          <p:cNvSpPr/>
          <p:nvPr/>
        </p:nvSpPr>
        <p:spPr>
          <a:xfrm>
            <a:off x="4800600" y="4187952"/>
            <a:ext cx="438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5303520" y="421538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future scope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029200" cy="1051560"/>
          </a:xfrm>
          <a:prstGeom prst="rect">
            <a:avLst/>
          </a:prstGeom>
          <a:solidFill>
            <a:srgbClr val="2C1A0E"/>
          </a:solidFill>
          <a:ln/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05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31673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coffee vending machine generated 1,133 transactions (Mar–Jul 2024). This project analyses sales patterns, popular drinks, payment behaviour and peak hours — and builds an ML model to predict transaction revenue.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2148840"/>
            <a:ext cx="502920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148840"/>
            <a:ext cx="73152" cy="2697480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128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578608"/>
            <a:ext cx="4480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most ordered &amp; highest-revenue coffee drinks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peak sales hours and busiest days of week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payment method split (card vs cash)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monthly revenue trends (March to July 2024)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Linear Regression model to predict order value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532120" y="1005840"/>
            <a:ext cx="1664208" cy="1572768"/>
          </a:xfrm>
          <a:prstGeom prst="rect">
            <a:avLst/>
          </a:prstGeom>
          <a:solidFill>
            <a:srgbClr val="2C1A0E"/>
          </a:solidFill>
          <a:ln/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32120" y="1207008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532120" y="199339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33488" y="1005840"/>
            <a:ext cx="1664208" cy="1572768"/>
          </a:xfrm>
          <a:prstGeom prst="rect">
            <a:avLst/>
          </a:prstGeom>
          <a:solidFill>
            <a:srgbClr val="C07B3A"/>
          </a:solidFill>
          <a:ln/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33488" y="1207008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33488" y="199339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Types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32120" y="2834640"/>
            <a:ext cx="1664208" cy="1572768"/>
          </a:xfrm>
          <a:prstGeom prst="rect">
            <a:avLst/>
          </a:prstGeom>
          <a:solidFill>
            <a:srgbClr val="2C1A0E"/>
          </a:solidFill>
          <a:ln/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32120" y="3035808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532120" y="382219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Cards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33488" y="2834640"/>
            <a:ext cx="1664208" cy="1572768"/>
          </a:xfrm>
          <a:prstGeom prst="rect">
            <a:avLst/>
          </a:prstGeom>
          <a:solidFill>
            <a:srgbClr val="C07B3A"/>
          </a:solidFill>
          <a:ln/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33488" y="3035808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mo.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333488" y="3822192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Mar–Jul 2024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2286000"/>
                <a:gridCol w="33832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1A0E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008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008"/>
                          </a:solidFill>
                        </a:rPr>
                        <a:t>Transaction date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C6E65"/>
                          </a:solidFill>
                        </a:rPr>
                        <a:t>2024-03-01 to 2024-07-31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1A0E"/>
                          </a:solidFill>
                        </a:rPr>
                        <a:t>datetime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008"/>
                          </a:solidFill>
                        </a:rPr>
                        <a:t>Datetime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008"/>
                          </a:solidFill>
                        </a:rPr>
                        <a:t>Exact timestamp of sale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C6E65"/>
                          </a:solidFill>
                        </a:rPr>
                        <a:t>Used to extract hour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1A0E"/>
                          </a:solidFill>
                        </a:rPr>
                        <a:t>cash_type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008"/>
                          </a:solidFill>
                        </a:rPr>
                        <a:t>Categorical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008"/>
                          </a:solidFill>
                        </a:rPr>
                        <a:t>Payment method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C6E65"/>
                          </a:solidFill>
                        </a:rPr>
                        <a:t>card (92.1%) / cash (7.9%)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1A0E"/>
                          </a:solidFill>
                        </a:rPr>
                        <a:t>card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008"/>
                          </a:solidFill>
                        </a:rPr>
                        <a:t>String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008"/>
                          </a:solidFill>
                        </a:rPr>
                        <a:t>Anonymised card 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C6E65"/>
                          </a:solidFill>
                        </a:rPr>
                        <a:t>89 missing (cash transactions)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1A0E"/>
                          </a:solidFill>
                        </a:rPr>
                        <a:t>money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008"/>
                          </a:solidFill>
                        </a:rPr>
                        <a:t>Float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008"/>
                          </a:solidFill>
                        </a:rPr>
                        <a:t>Transaction value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C6E65"/>
                          </a:solidFill>
                        </a:rPr>
                        <a:t>Range: ~18 to 72 units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C1A0E"/>
                          </a:solidFill>
                        </a:rPr>
                        <a:t>coffee_name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008"/>
                          </a:solidFill>
                        </a:rPr>
                        <a:t>Categorical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1008"/>
                          </a:solidFill>
                        </a:rPr>
                        <a:t>Drink ordered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7C6E65"/>
                          </a:solidFill>
                        </a:rPr>
                        <a:t>8 unique types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DE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C07B3A">
              <a:alpha val="80000"/>
            </a:srgbClr>
          </a:solidFill>
          <a:ln w="10160">
            <a:solidFill>
              <a:srgbClr val="C07B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42976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Feature Engineering:  month (int)  ·  day (Mon–Sun day name)  ·  hour (0–23 integer)  extracted from date/datetime columns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Feature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416052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60120"/>
            <a:ext cx="64008" cy="1810512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6" name="Shape 4"/>
          <p:cNvSpPr/>
          <p:nvPr/>
        </p:nvSpPr>
        <p:spPr>
          <a:xfrm>
            <a:off x="393192" y="1069848"/>
            <a:ext cx="475488" cy="475488"/>
          </a:xfrm>
          <a:prstGeom prst="ellipse">
            <a:avLst/>
          </a:prstGeom>
          <a:solidFill>
            <a:srgbClr val="2C1A0E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" y="1069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41832" y="109728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Missing Value Check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41832" y="1490472"/>
            <a:ext cx="3364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column had 89 null values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correspond to cash transactions (no card ID recorded)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columns: 0 missing values — dataset is clean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16052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960120"/>
            <a:ext cx="64008" cy="1810512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828032" y="1069848"/>
            <a:ext cx="475488" cy="475488"/>
          </a:xfrm>
          <a:prstGeom prst="ellipse">
            <a:avLst/>
          </a:prstGeom>
          <a:solidFill>
            <a:srgbClr val="2C1A0E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069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76672" y="109728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Date Conversion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376672" y="1490472"/>
            <a:ext cx="3364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date → pd.datetime for date arithmetic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datetime → pd.datetime to extract hour-level data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month, day-of-week and hour feature extraction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2971800"/>
            <a:ext cx="416052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971800"/>
            <a:ext cx="64008" cy="1810512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18" name="Shape 16"/>
          <p:cNvSpPr/>
          <p:nvPr/>
        </p:nvSpPr>
        <p:spPr>
          <a:xfrm>
            <a:off x="393192" y="3081528"/>
            <a:ext cx="475488" cy="475488"/>
          </a:xfrm>
          <a:prstGeom prst="ellipse">
            <a:avLst/>
          </a:prstGeom>
          <a:solidFill>
            <a:srgbClr val="2C1A0E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" y="3081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" y="310896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Feature Engineering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41832" y="3502152"/>
            <a:ext cx="3364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month: integer (3=Mar, 4=Apr, …, 7=Jul)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day: day name string (Monday … Sunday)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hour: integer 0–23 from the datetime column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90872" y="2971800"/>
            <a:ext cx="416052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2971800"/>
            <a:ext cx="64008" cy="1810512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24" name="Shape 22"/>
          <p:cNvSpPr/>
          <p:nvPr/>
        </p:nvSpPr>
        <p:spPr>
          <a:xfrm>
            <a:off x="4828032" y="3081528"/>
            <a:ext cx="475488" cy="475488"/>
          </a:xfrm>
          <a:prstGeom prst="ellipse">
            <a:avLst/>
          </a:prstGeom>
          <a:solidFill>
            <a:srgbClr val="2C1A0E"/>
          </a:solidFill>
          <a:ln/>
        </p:spPr>
      </p:sp>
      <p:sp>
        <p:nvSpPr>
          <p:cNvPr id="25" name="Text 23"/>
          <p:cNvSpPr/>
          <p:nvPr/>
        </p:nvSpPr>
        <p:spPr>
          <a:xfrm>
            <a:off x="4828032" y="3081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76672" y="3108960"/>
            <a:ext cx="3364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ML Pre-processing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376672" y="3502152"/>
            <a:ext cx="33649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coffee_name &amp; cash_type (pd.get_dummies)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money (transaction value)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 with random_state=42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Sales Distribution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960120"/>
            <a:ext cx="2788920" cy="749808"/>
          </a:xfrm>
          <a:prstGeom prst="rect">
            <a:avLst/>
          </a:prstGeom>
          <a:solidFill>
            <a:srgbClr val="2C1A0E"/>
          </a:solidFill>
          <a:ln w="508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172200" y="9966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Most Ordered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172200" y="12344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Americano w/ Milk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72200" y="148132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 orders (23.7%)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080760" y="1837944"/>
            <a:ext cx="27889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72200" y="187452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 2nd Place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172200" y="211226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72200" y="23591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 orders (21.4%)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80760" y="2715768"/>
            <a:ext cx="2788920" cy="749808"/>
          </a:xfrm>
          <a:prstGeom prst="rect">
            <a:avLst/>
          </a:prstGeom>
          <a:solidFill>
            <a:srgbClr val="2C1A0E"/>
          </a:solidFill>
          <a:ln w="508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72200" y="27523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 3rd Place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172200" y="29900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Cappuccino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72200" y="323697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 orders (17.3%)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80760" y="3593592"/>
            <a:ext cx="27889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72200" y="363016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Least Ordered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172200" y="38679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72200" y="411480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orders (3.1%)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Coffee Type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943600" y="960120"/>
          <a:ext cx="29260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943600" y="3840480"/>
            <a:ext cx="2926080" cy="640080"/>
          </a:xfrm>
          <a:prstGeom prst="rect">
            <a:avLst/>
          </a:prstGeom>
          <a:solidFill>
            <a:srgbClr val="2C1A0E"/>
          </a:solidFill>
          <a:ln/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035040" y="38770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035040" y="41148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37,508.88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Day &amp; Hour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2976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914400"/>
          <a:ext cx="4114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3246120"/>
            <a:ext cx="20116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274320" y="3246120"/>
            <a:ext cx="2011680" cy="347472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8" name="Text 4"/>
          <p:cNvSpPr/>
          <p:nvPr/>
        </p:nvSpPr>
        <p:spPr>
          <a:xfrm>
            <a:off x="365760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Busiest Day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65760" y="3657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65760" y="400507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orders — 23% above slowest days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450592" y="3246120"/>
            <a:ext cx="20116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450592" y="3246120"/>
            <a:ext cx="2011680" cy="347472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13" name="Text 9"/>
          <p:cNvSpPr/>
          <p:nvPr/>
        </p:nvSpPr>
        <p:spPr>
          <a:xfrm>
            <a:off x="2542032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Morning Rush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42032" y="3657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AM Peak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542032" y="400507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orders — highest single hour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626864" y="3246120"/>
            <a:ext cx="20116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26864" y="3246120"/>
            <a:ext cx="2011680" cy="347472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18" name="Text 14"/>
          <p:cNvSpPr/>
          <p:nvPr/>
        </p:nvSpPr>
        <p:spPr>
          <a:xfrm>
            <a:off x="4718304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 Evening Rush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718304" y="3657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PM (19:00)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718304" y="400507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orders — strong secondary peak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803136" y="3246120"/>
            <a:ext cx="201168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803136" y="3246120"/>
            <a:ext cx="2011680" cy="347472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23" name="Text 19"/>
          <p:cNvSpPr/>
          <p:nvPr/>
        </p:nvSpPr>
        <p:spPr>
          <a:xfrm>
            <a:off x="6894576" y="3273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 Quietest Hour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894576" y="3657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AM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894576" y="400507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13 orders — machine just opens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Analysis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1005840"/>
            <a:ext cx="3794760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0" y="1005840"/>
            <a:ext cx="73152" cy="841248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7" name="Text 4"/>
          <p:cNvSpPr/>
          <p:nvPr/>
        </p:nvSpPr>
        <p:spPr>
          <a:xfrm>
            <a:off x="5193792" y="10607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Transactions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193792" y="133502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1,044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858000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92.1%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0" y="2011680"/>
            <a:ext cx="3794760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2011680"/>
            <a:ext cx="73152" cy="841248"/>
          </a:xfrm>
          <a:prstGeom prst="rect">
            <a:avLst/>
          </a:prstGeom>
          <a:solidFill>
            <a:srgbClr val="2A7C6F"/>
          </a:solidFill>
          <a:ln/>
        </p:spPr>
      </p:sp>
      <p:sp>
        <p:nvSpPr>
          <p:cNvPr id="12" name="Text 9"/>
          <p:cNvSpPr/>
          <p:nvPr/>
        </p:nvSpPr>
        <p:spPr>
          <a:xfrm>
            <a:off x="5193792" y="206654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Transactions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193792" y="234086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58000" y="2377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7.9%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0" y="3017520"/>
            <a:ext cx="3794760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0" y="3017520"/>
            <a:ext cx="73152" cy="841248"/>
          </a:xfrm>
          <a:prstGeom prst="rect">
            <a:avLst/>
          </a:prstGeom>
          <a:solidFill>
            <a:srgbClr val="6B3A2A"/>
          </a:solidFill>
          <a:ln/>
        </p:spPr>
      </p:sp>
      <p:sp>
        <p:nvSpPr>
          <p:cNvPr id="17" name="Text 14"/>
          <p:cNvSpPr/>
          <p:nvPr/>
        </p:nvSpPr>
        <p:spPr>
          <a:xfrm>
            <a:off x="5193792" y="30723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Card IDs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93792" y="33467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858000" y="3383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cash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029200" y="4023360"/>
            <a:ext cx="3794760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29200" y="4023360"/>
            <a:ext cx="73152" cy="841248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22" name="Text 19"/>
          <p:cNvSpPr/>
          <p:nvPr/>
        </p:nvSpPr>
        <p:spPr>
          <a:xfrm>
            <a:off x="5193792" y="40782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Card Transaction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193792" y="435254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~33.1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858000" y="4389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~33.1 cash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29200" y="4343400"/>
            <a:ext cx="3794760" cy="566928"/>
          </a:xfrm>
          <a:prstGeom prst="rect">
            <a:avLst/>
          </a:prstGeom>
          <a:solidFill>
            <a:srgbClr val="C07B3A">
              <a:alpha val="8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120640" y="4370832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Card dominates at 92.1% — cashless infrastructure is well-adopted. Only 89 cash transactions recorded in 5 months.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Trends (Mar–Jul 2024)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6692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960120"/>
            <a:ext cx="14173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89320" y="10332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89320" y="13441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7,050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516368" y="960120"/>
            <a:ext cx="14173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16368" y="10332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16368" y="134416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6,721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989320" y="2011680"/>
            <a:ext cx="1417320" cy="914400"/>
          </a:xfrm>
          <a:prstGeom prst="rect">
            <a:avLst/>
          </a:prstGeom>
          <a:solidFill>
            <a:srgbClr val="C07B3A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89320" y="2084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89320" y="23957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9,063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516368" y="2011680"/>
            <a:ext cx="14173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516368" y="2084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16368" y="239572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7,759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748272" y="3063240"/>
            <a:ext cx="14173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48272" y="30906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748272" y="33832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6,916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943600" y="4041648"/>
            <a:ext cx="2926080" cy="621792"/>
          </a:xfrm>
          <a:prstGeom prst="rect">
            <a:avLst/>
          </a:prstGeom>
          <a:solidFill>
            <a:srgbClr val="2C1A0E"/>
          </a:solidFill>
          <a:ln/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035040" y="408736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May was the strongest month (₹9,063 — 35% above April). April was the weakest.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— Revenue Prediction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9377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3840480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241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444752"/>
            <a:ext cx="4663440" cy="402336"/>
          </a:xfrm>
          <a:prstGeom prst="rect">
            <a:avLst/>
          </a:prstGeom>
          <a:solidFill>
            <a:srgbClr val="FDF6EC"/>
          </a:solidFill>
          <a:ln w="3810">
            <a:solidFill>
              <a:srgbClr val="EDE3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4996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48840" y="149961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(sklearn)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46634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DE3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9751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19751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(transaction value)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395728"/>
            <a:ext cx="4663440" cy="402336"/>
          </a:xfrm>
          <a:prstGeom prst="rect">
            <a:avLst/>
          </a:prstGeom>
          <a:solidFill>
            <a:srgbClr val="FDF6EC"/>
          </a:solidFill>
          <a:ln w="3810">
            <a:solidFill>
              <a:srgbClr val="EDE3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450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24505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coffee_name (one-hot), cash_type (one-hot), hour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871216"/>
            <a:ext cx="46634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DE3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926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48840" y="29260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pd.get_dummies() with drop_first=True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346704"/>
            <a:ext cx="4663440" cy="402336"/>
          </a:xfrm>
          <a:prstGeom prst="rect">
            <a:avLst/>
          </a:prstGeom>
          <a:solidFill>
            <a:srgbClr val="FDF6EC"/>
          </a:solidFill>
          <a:ln w="3810">
            <a:solidFill>
              <a:srgbClr val="EDE3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4015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48840" y="340156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· 20% test (random_state=42)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822192"/>
            <a:ext cx="46634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DE3D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87705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(test set)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48840" y="387705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297680"/>
            <a:ext cx="4663440" cy="402336"/>
          </a:xfrm>
          <a:prstGeom prst="rect">
            <a:avLst/>
          </a:prstGeom>
          <a:solidFill>
            <a:srgbClr val="FDF6EC"/>
          </a:solidFill>
          <a:ln w="3810">
            <a:solidFill>
              <a:srgbClr val="EDE3D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3525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(test set)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48840" y="43525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  ← Strong predictive power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0" y="960120"/>
            <a:ext cx="3383280" cy="1554480"/>
          </a:xfrm>
          <a:prstGeom prst="rect">
            <a:avLst/>
          </a:prstGeom>
          <a:solidFill>
            <a:srgbClr val="2C1A0E"/>
          </a:solidFill>
          <a:ln/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77840" y="10241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77840" y="1325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5200" dirty="0"/>
          </a:p>
        </p:txBody>
      </p:sp>
      <p:sp>
        <p:nvSpPr>
          <p:cNvPr id="31" name="Shape 29"/>
          <p:cNvSpPr/>
          <p:nvPr/>
        </p:nvSpPr>
        <p:spPr>
          <a:xfrm>
            <a:off x="5486400" y="2606040"/>
            <a:ext cx="33832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0" y="2606040"/>
            <a:ext cx="73152" cy="914400"/>
          </a:xfrm>
          <a:prstGeom prst="rect">
            <a:avLst/>
          </a:prstGeom>
          <a:solidFill>
            <a:srgbClr val="2A7C6F"/>
          </a:solidFill>
          <a:ln/>
        </p:spPr>
      </p:sp>
      <p:sp>
        <p:nvSpPr>
          <p:cNvPr id="33" name="Text 31"/>
          <p:cNvSpPr/>
          <p:nvPr/>
        </p:nvSpPr>
        <p:spPr>
          <a:xfrm>
            <a:off x="5623560" y="26517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(Mean Squared Error)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23560" y="2926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3.33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5486400" y="3611880"/>
            <a:ext cx="3383280" cy="1188720"/>
          </a:xfrm>
          <a:prstGeom prst="rect">
            <a:avLst/>
          </a:prstGeom>
          <a:solidFill>
            <a:srgbClr val="C07B3A">
              <a:alpha val="82000"/>
            </a:srgbClr>
          </a:solidFill>
          <a:ln w="10160">
            <a:solidFill>
              <a:srgbClr val="C07B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77840" y="39502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R² of 0.82 means the model explains 82% of the variance in transaction value using just coffee type, payment method and hour — a very strong result for a simple linear model.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277977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60120"/>
            <a:ext cx="2779776" cy="384048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0149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Americano w/ Milk Tops Orders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435608"/>
            <a:ext cx="25786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 orders (23.7% of all transactions) — the single most ordered drink, ahead of Latte (243) and Cappuccino (196).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77977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60120"/>
            <a:ext cx="2779776" cy="384048"/>
          </a:xfrm>
          <a:prstGeom prst="rect">
            <a:avLst/>
          </a:prstGeom>
          <a:solidFill>
            <a:srgbClr val="6B3A2A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149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Latte Leads Revenue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10128" y="1435608"/>
            <a:ext cx="25786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being 2nd in orders, Latte generates the highest revenue at ₹9,009 — above Americano w/ Milk (₹8,602).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44768" y="960120"/>
            <a:ext cx="277977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44768" y="960120"/>
            <a:ext cx="2779776" cy="384048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14" name="Text 12"/>
          <p:cNvSpPr/>
          <p:nvPr/>
        </p:nvSpPr>
        <p:spPr>
          <a:xfrm>
            <a:off x="6236208" y="101498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Tuesday is Peak Day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54496" y="1435608"/>
            <a:ext cx="25786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has 185 orders — the highest of any weekday. Monday and Sunday are tied lowest at 151.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2926080"/>
            <a:ext cx="277977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926080"/>
            <a:ext cx="2779776" cy="384048"/>
          </a:xfrm>
          <a:prstGeom prst="rect">
            <a:avLst/>
          </a:prstGeom>
          <a:solidFill>
            <a:srgbClr val="6B3A2A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9809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10 AM is the Rush Hour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3401568"/>
            <a:ext cx="25786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orders at 10 AM — the busiest single hour. A secondary peak occurs at 7 PM (96 orders).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77977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26080"/>
            <a:ext cx="2779776" cy="384048"/>
          </a:xfrm>
          <a:prstGeom prst="rect">
            <a:avLst/>
          </a:prstGeom>
          <a:solidFill>
            <a:srgbClr val="2C1A0E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29809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Card Payment Dominates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10128" y="3401568"/>
            <a:ext cx="25786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92.1% of transactions use card. Only 89 out of 1,133 transactions were cash — the machine is nearly cashless.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44768" y="2926080"/>
            <a:ext cx="2779776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DE3D7"/>
            </a:solidFill>
            <a:prstDash val="solid"/>
          </a:ln>
          <a:effectLst>
            <a:outerShdw sx="100000" sy="100000" kx="0" ky="0" algn="bl" rotWithShape="0" blurRad="101600" dist="38100" dir="8100000">
              <a:srgbClr val="2C1A0E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44768" y="2926080"/>
            <a:ext cx="2779776" cy="384048"/>
          </a:xfrm>
          <a:prstGeom prst="rect">
            <a:avLst/>
          </a:prstGeom>
          <a:solidFill>
            <a:srgbClr val="6B3A2A"/>
          </a:solidFill>
          <a:ln/>
        </p:spPr>
      </p:sp>
      <p:sp>
        <p:nvSpPr>
          <p:cNvPr id="26" name="Text 24"/>
          <p:cNvSpPr/>
          <p:nvPr/>
        </p:nvSpPr>
        <p:spPr>
          <a:xfrm>
            <a:off x="6236208" y="29809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May Was the Best Month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54496" y="3401568"/>
            <a:ext cx="25786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0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2024 generated ₹9,063 — the highest monthly revenue, ~35% above April (₹6,721) which was the weakest.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029200" cy="5029200"/>
          </a:xfrm>
          <a:prstGeom prst="ellipse">
            <a:avLst/>
          </a:prstGeom>
          <a:solidFill>
            <a:srgbClr val="6B3A2A">
              <a:alpha val="20000"/>
            </a:srgbClr>
          </a:solidFill>
          <a:ln w="3810">
            <a:solidFill>
              <a:srgbClr val="6B3A2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560320"/>
            <a:ext cx="3657600" cy="3657600"/>
          </a:xfrm>
          <a:prstGeom prst="ellipse">
            <a:avLst/>
          </a:prstGeom>
          <a:solidFill>
            <a:srgbClr val="C07B3A">
              <a:alpha val="12000"/>
            </a:srgbClr>
          </a:solidFill>
          <a:ln w="3810">
            <a:solidFill>
              <a:srgbClr val="C07B3A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274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4114800" cy="45720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15568"/>
            <a:ext cx="8229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Americano with Milk and Latte are the top-selling drinks — ideal for promotions and stock prioritisation.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AM and 7 PM are peak hours; scheduling maintenance and restocking around these windows will minimise lost sales.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 at 92.1% shows strong digital adoption — a contactless-only or app-based loyalty scheme would suit this user base.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2024 is the revenue peak; understanding what drove that month could inform seasonal campaigns.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Linear Regression model achieves R²=0.82 — coffee type and hour alone are powerful predictors of transaction value.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3547872"/>
            <a:ext cx="8321040" cy="1207008"/>
          </a:xfrm>
          <a:prstGeom prst="rect">
            <a:avLst/>
          </a:prstGeom>
          <a:solidFill>
            <a:srgbClr val="C07B3A">
              <a:alpha val="15000"/>
            </a:srgbClr>
          </a:solidFill>
          <a:ln w="12700">
            <a:solidFill>
              <a:srgbClr val="C07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3904488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D5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by spend  •  Time-series demand forecasting  •  Inventory optimisation model  •  Power BI / Tableau live dashboard  •  Loyalty programme design &amp; A/B testing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github.com/ronakpawar123/Coffee-Sales-Analysis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Sales Analysis</dc:title>
  <dc:subject>PptxGenJS Presentation</dc:subject>
  <dc:creator>Ronak Pawar</dc:creator>
  <cp:lastModifiedBy>Ronak Pawar</cp:lastModifiedBy>
  <cp:revision>1</cp:revision>
  <dcterms:created xsi:type="dcterms:W3CDTF">2026-03-23T07:32:05Z</dcterms:created>
  <dcterms:modified xsi:type="dcterms:W3CDTF">2026-03-23T07:32:05Z</dcterms:modified>
</cp:coreProperties>
</file>